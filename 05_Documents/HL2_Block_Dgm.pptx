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D7CD"/>
    <a:srgbClr val="ED7D31"/>
    <a:srgbClr val="FFCC99"/>
    <a:srgbClr val="F7C2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630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133B3-117B-F5EF-A5CA-FA1192ADD1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05BA48-5D94-9536-69DA-7C0A502913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866A78-3E7C-1B22-07C2-C71184795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30431-45DC-4BB8-9BBD-00A148D0FC5A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A81DCD-45A8-DCDF-7C43-5F203D181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3AE1F3-7B7E-ED91-F2A7-AD150CCBC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FC7D5-AF20-4D18-B798-E67676C85D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944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86F99-B924-53F6-D2C5-5601543B7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D151CC-119B-DDF4-45F6-7C7D75FE46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1F72A-6C2F-D6D3-676E-794D10DF9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30431-45DC-4BB8-9BBD-00A148D0FC5A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BF926A-EBA7-C1CE-A604-C574EBDB4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4D130D-3B57-6C21-7E27-7D6E89BD6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FC7D5-AF20-4D18-B798-E67676C85D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8490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D2D7E-7425-7C47-B25C-B5E66A6E0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9CCAD4-C94E-AD10-DAC3-329CDBCEED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A6A50F-3E7C-EEF2-0BFD-DAA4BC64A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30431-45DC-4BB8-9BBD-00A148D0FC5A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0F9C56-D2D3-BD37-ABE1-A0480D3C9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0B1A3A-1925-2A9F-C29C-84210C8E3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FC7D5-AF20-4D18-B798-E67676C85D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8552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20282-98F5-2742-600E-48223B98C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1E2B36-9459-2882-FB78-9F981F1AFF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300430-9080-4644-1A14-BE5863C48F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E5EBF7-B8C7-4FD2-301D-AA10D9D64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30431-45DC-4BB8-9BBD-00A148D0FC5A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42DEAC-96B1-47FD-FC93-B7C4E5AFD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1637D9-383C-3B1A-AFD8-CEFF745EC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FC7D5-AF20-4D18-B798-E67676C85D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2412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1B684-E247-DC9E-C414-BEC1C711B4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FD42AC-159D-EC73-D211-4AFA9C8C33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9E0903-BC6B-8861-6110-8C80A0A21F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E38AC9-8E98-129F-C5E0-79ACD578ED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D46EC1-E22F-C4FC-0AF0-7CD1F848EA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0893C0-413A-4601-2EFD-87E55F6F2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30431-45DC-4BB8-9BBD-00A148D0FC5A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F36437-4DE5-5B5D-2F75-49AC1CFA9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CBC9BF-7F05-F9E7-BCCB-C06430DA1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FC7D5-AF20-4D18-B798-E67676C85D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34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4D9B8-3AB3-A37B-77A4-1E04AFFAB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BDE795-0FC4-821C-1B1F-C9D53D615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30431-45DC-4BB8-9BBD-00A148D0FC5A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F6BB91-0373-F2F6-D59E-4D336C83E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510C32-2283-9E05-7220-AC2281C16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FC7D5-AF20-4D18-B798-E67676C85D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319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7F6B39-3A47-C4E8-A554-937731877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30431-45DC-4BB8-9BBD-00A148D0FC5A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87502B-2423-4F6D-CF83-AC75294A5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1353C7-33EF-0157-EB10-F0C171411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FC7D5-AF20-4D18-B798-E67676C85D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1177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2BA7B-7765-E7DB-F066-C8B3007EE3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F3A4A7-4CC8-7BA2-A066-AAB101143C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0CDDBE-262D-B8BF-C869-EA09803508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D04FC7-D108-0230-046B-7F261DC5D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30431-45DC-4BB8-9BBD-00A148D0FC5A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B261D5-BA91-A0B4-6FA8-BE0F886BF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8F4562-828E-0121-EF59-6D46867F1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FC7D5-AF20-4D18-B798-E67676C85D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906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A8AC9-7A4D-D321-04A8-528367B0C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08141C-2B47-BC14-B5B4-95BD1D8732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1DA9A6-09E0-A211-0969-16886221C3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C60D0C-8B22-2482-706F-6CD292909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30431-45DC-4BB8-9BBD-00A148D0FC5A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997D83-97E7-A387-9404-EB5131D5C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85AEED-C7AB-6E10-7649-6496435E8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FC7D5-AF20-4D18-B798-E67676C85D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9924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A735E-1560-1BAD-A64B-2FDD50B40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2267CE-7638-CAD0-92DA-FFCC8F9180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B69C62-310C-5959-810C-C855ED79B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30431-45DC-4BB8-9BBD-00A148D0FC5A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BEB1BB-F83F-F36A-911A-8CB0A4897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C2C2C8-6DD7-CC5D-C2A8-654126253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FC7D5-AF20-4D18-B798-E67676C85D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785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EE3A81-43A3-1C49-4FF6-04697596D0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D285EC-7957-37DA-C40C-AFE37CCC14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26C69E-A134-BCC0-1923-98BF4C22F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30431-45DC-4BB8-9BBD-00A148D0FC5A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E6C8D3-66CC-A352-D77F-8E992D36C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5C5085-4F19-DAD6-EC0C-C27D02B5F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FC7D5-AF20-4D18-B798-E67676C85D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0038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908084-2736-04D0-58A2-3A5D39339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69A143-88AB-512B-59FF-8933E18FF6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F56D5C-6DFE-03F9-92AE-803AAEECF5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030431-45DC-4BB8-9BBD-00A148D0FC5A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DC7B04-785F-5900-6ABC-B9F5D2B49F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DC3451-7F6B-2765-2AD2-620565D6CB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7FC7D5-AF20-4D18-B798-E67676C85D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344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228FF9AC-FEB3-093B-B422-FD852015840D}"/>
              </a:ext>
            </a:extLst>
          </p:cNvPr>
          <p:cNvSpPr/>
          <p:nvPr/>
        </p:nvSpPr>
        <p:spPr>
          <a:xfrm>
            <a:off x="5252649" y="3194190"/>
            <a:ext cx="1670911" cy="60320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BF75BCA-CD69-09DF-BBBF-5DBDD1C06D18}"/>
              </a:ext>
            </a:extLst>
          </p:cNvPr>
          <p:cNvSpPr/>
          <p:nvPr/>
        </p:nvSpPr>
        <p:spPr>
          <a:xfrm>
            <a:off x="3046939" y="951460"/>
            <a:ext cx="742556" cy="75253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DAC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4C3E3C5-761A-5318-69AF-49B6B599ED4F}"/>
              </a:ext>
            </a:extLst>
          </p:cNvPr>
          <p:cNvSpPr/>
          <p:nvPr/>
        </p:nvSpPr>
        <p:spPr>
          <a:xfrm>
            <a:off x="5691979" y="2480048"/>
            <a:ext cx="800060" cy="47485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Atten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-46dB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0F79838-B494-BD62-2DD9-E359589AF689}"/>
              </a:ext>
            </a:extLst>
          </p:cNvPr>
          <p:cNvSpPr/>
          <p:nvPr/>
        </p:nvSpPr>
        <p:spPr>
          <a:xfrm>
            <a:off x="7884171" y="1151908"/>
            <a:ext cx="593487" cy="37135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ANT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DBE3537-20B8-B66B-447A-4AE517B69DC6}"/>
              </a:ext>
            </a:extLst>
          </p:cNvPr>
          <p:cNvSpPr/>
          <p:nvPr/>
        </p:nvSpPr>
        <p:spPr>
          <a:xfrm>
            <a:off x="6942449" y="964651"/>
            <a:ext cx="680865" cy="7616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TR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SW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B009781-2804-0F3F-0B4E-CC7134879B8A}"/>
              </a:ext>
            </a:extLst>
          </p:cNvPr>
          <p:cNvSpPr/>
          <p:nvPr/>
        </p:nvSpPr>
        <p:spPr>
          <a:xfrm>
            <a:off x="4773929" y="957933"/>
            <a:ext cx="742556" cy="75253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PA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G=20dB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59BFC08-C399-9771-6545-13A06A55CD41}"/>
              </a:ext>
            </a:extLst>
          </p:cNvPr>
          <p:cNvSpPr/>
          <p:nvPr/>
        </p:nvSpPr>
        <p:spPr>
          <a:xfrm>
            <a:off x="7606235" y="2453338"/>
            <a:ext cx="717334" cy="53250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LNA</a:t>
            </a:r>
          </a:p>
          <a:p>
            <a:pPr algn="ctr"/>
            <a:r>
              <a:rPr lang="en-US" sz="1100" dirty="0">
                <a:solidFill>
                  <a:schemeClr val="tx1"/>
                </a:solidFill>
              </a:rPr>
              <a:t>w/ Gain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A5058A6-0A2C-BE78-C7C4-E6B0694D04DE}"/>
              </a:ext>
            </a:extLst>
          </p:cNvPr>
          <p:cNvSpPr/>
          <p:nvPr/>
        </p:nvSpPr>
        <p:spPr>
          <a:xfrm>
            <a:off x="7667905" y="3382831"/>
            <a:ext cx="593993" cy="53250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ADC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8246013-B4CA-A203-E473-F5915710F2A4}"/>
              </a:ext>
            </a:extLst>
          </p:cNvPr>
          <p:cNvSpPr/>
          <p:nvPr/>
        </p:nvSpPr>
        <p:spPr>
          <a:xfrm>
            <a:off x="5374651" y="4159574"/>
            <a:ext cx="1450768" cy="315534"/>
          </a:xfrm>
          <a:custGeom>
            <a:avLst/>
            <a:gdLst>
              <a:gd name="csX0" fmla="*/ 0 w 1657684"/>
              <a:gd name="csY0" fmla="*/ 0 h 376271"/>
              <a:gd name="csX1" fmla="*/ 1657684 w 1657684"/>
              <a:gd name="csY1" fmla="*/ 0 h 376271"/>
              <a:gd name="csX2" fmla="*/ 1657684 w 1657684"/>
              <a:gd name="csY2" fmla="*/ 376271 h 376271"/>
              <a:gd name="csX3" fmla="*/ 0 w 1657684"/>
              <a:gd name="csY3" fmla="*/ 376271 h 376271"/>
              <a:gd name="csX4" fmla="*/ 0 w 1657684"/>
              <a:gd name="csY4" fmla="*/ 0 h 376271"/>
              <a:gd name="csX0" fmla="*/ 0 w 1657684"/>
              <a:gd name="csY0" fmla="*/ 0 h 376271"/>
              <a:gd name="csX1" fmla="*/ 1297255 w 1657684"/>
              <a:gd name="csY1" fmla="*/ 1981 h 376271"/>
              <a:gd name="csX2" fmla="*/ 1657684 w 1657684"/>
              <a:gd name="csY2" fmla="*/ 0 h 376271"/>
              <a:gd name="csX3" fmla="*/ 1657684 w 1657684"/>
              <a:gd name="csY3" fmla="*/ 376271 h 376271"/>
              <a:gd name="csX4" fmla="*/ 0 w 1657684"/>
              <a:gd name="csY4" fmla="*/ 376271 h 376271"/>
              <a:gd name="csX5" fmla="*/ 0 w 1657684"/>
              <a:gd name="csY5" fmla="*/ 0 h 376271"/>
              <a:gd name="csX0" fmla="*/ 0 w 1657684"/>
              <a:gd name="csY0" fmla="*/ 0 h 376271"/>
              <a:gd name="csX1" fmla="*/ 349518 w 1657684"/>
              <a:gd name="csY1" fmla="*/ 1981 h 376271"/>
              <a:gd name="csX2" fmla="*/ 1297255 w 1657684"/>
              <a:gd name="csY2" fmla="*/ 1981 h 376271"/>
              <a:gd name="csX3" fmla="*/ 1657684 w 1657684"/>
              <a:gd name="csY3" fmla="*/ 0 h 376271"/>
              <a:gd name="csX4" fmla="*/ 1657684 w 1657684"/>
              <a:gd name="csY4" fmla="*/ 376271 h 376271"/>
              <a:gd name="csX5" fmla="*/ 0 w 1657684"/>
              <a:gd name="csY5" fmla="*/ 376271 h 376271"/>
              <a:gd name="csX6" fmla="*/ 0 w 1657684"/>
              <a:gd name="csY6" fmla="*/ 0 h 37627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657684" h="376271">
                <a:moveTo>
                  <a:pt x="0" y="0"/>
                </a:moveTo>
                <a:lnTo>
                  <a:pt x="349518" y="1981"/>
                </a:lnTo>
                <a:lnTo>
                  <a:pt x="1297255" y="1981"/>
                </a:lnTo>
                <a:lnTo>
                  <a:pt x="1657684" y="0"/>
                </a:lnTo>
                <a:lnTo>
                  <a:pt x="1657684" y="376271"/>
                </a:lnTo>
                <a:lnTo>
                  <a:pt x="0" y="37627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PC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29613E6-418A-5811-60E2-B20AAA1EB1A5}"/>
              </a:ext>
            </a:extLst>
          </p:cNvPr>
          <p:cNvCxnSpPr>
            <a:cxnSpLocks/>
            <a:stCxn id="8" idx="3"/>
            <a:endCxn id="7" idx="1"/>
          </p:cNvCxnSpPr>
          <p:nvPr/>
        </p:nvCxnSpPr>
        <p:spPr>
          <a:xfrm flipV="1">
            <a:off x="7623314" y="1337588"/>
            <a:ext cx="260857" cy="787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74E149FB-0538-D7E2-A3A8-4DFE65DF347F}"/>
              </a:ext>
            </a:extLst>
          </p:cNvPr>
          <p:cNvCxnSpPr>
            <a:cxnSpLocks/>
            <a:stCxn id="9" idx="3"/>
            <a:endCxn id="8" idx="1"/>
          </p:cNvCxnSpPr>
          <p:nvPr/>
        </p:nvCxnSpPr>
        <p:spPr>
          <a:xfrm>
            <a:off x="5516485" y="1334201"/>
            <a:ext cx="1425964" cy="112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2F6589C-E159-8B6A-E65E-FFD85F2AC0AB}"/>
              </a:ext>
            </a:extLst>
          </p:cNvPr>
          <p:cNvCxnSpPr>
            <a:cxnSpLocks/>
            <a:stCxn id="4" idx="3"/>
            <a:endCxn id="9" idx="1"/>
          </p:cNvCxnSpPr>
          <p:nvPr/>
        </p:nvCxnSpPr>
        <p:spPr>
          <a:xfrm>
            <a:off x="3789495" y="1327728"/>
            <a:ext cx="984434" cy="64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55899FF6-95DE-0178-977C-95020172D267}"/>
              </a:ext>
            </a:extLst>
          </p:cNvPr>
          <p:cNvCxnSpPr>
            <a:cxnSpLocks/>
            <a:stCxn id="6" idx="3"/>
            <a:endCxn id="10" idx="1"/>
          </p:cNvCxnSpPr>
          <p:nvPr/>
        </p:nvCxnSpPr>
        <p:spPr>
          <a:xfrm>
            <a:off x="6492039" y="2717476"/>
            <a:ext cx="1114196" cy="21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A94E4FFB-4D26-0D64-B922-9D587912D436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>
          <a:xfrm>
            <a:off x="7964902" y="2985846"/>
            <a:ext cx="0" cy="3969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011CEC14-527D-D8B1-AE2C-B3F1B8A35679}"/>
              </a:ext>
            </a:extLst>
          </p:cNvPr>
          <p:cNvSpPr txBox="1"/>
          <p:nvPr/>
        </p:nvSpPr>
        <p:spPr>
          <a:xfrm>
            <a:off x="6441790" y="3838428"/>
            <a:ext cx="6633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EP6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D4F5EDCC-A837-ABD4-D753-7B30743EFB46}"/>
              </a:ext>
            </a:extLst>
          </p:cNvPr>
          <p:cNvSpPr txBox="1"/>
          <p:nvPr/>
        </p:nvSpPr>
        <p:spPr>
          <a:xfrm>
            <a:off x="5211177" y="3823039"/>
            <a:ext cx="6291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EP2</a:t>
            </a:r>
          </a:p>
        </p:txBody>
      </p: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AE4477B8-E83D-6F38-7A53-5FA33312D2EF}"/>
              </a:ext>
            </a:extLst>
          </p:cNvPr>
          <p:cNvCxnSpPr>
            <a:cxnSpLocks/>
            <a:stCxn id="112" idx="2"/>
            <a:endCxn id="9" idx="0"/>
          </p:cNvCxnSpPr>
          <p:nvPr/>
        </p:nvCxnSpPr>
        <p:spPr>
          <a:xfrm>
            <a:off x="5143962" y="750606"/>
            <a:ext cx="1245" cy="2073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TextBox 111">
            <a:extLst>
              <a:ext uri="{FF2B5EF4-FFF2-40B4-BE49-F238E27FC236}">
                <a16:creationId xmlns:a16="http://schemas.microsoft.com/office/drawing/2014/main" id="{9D92252D-D784-0597-0F61-09E84D484B3C}"/>
              </a:ext>
            </a:extLst>
          </p:cNvPr>
          <p:cNvSpPr txBox="1"/>
          <p:nvPr/>
        </p:nvSpPr>
        <p:spPr>
          <a:xfrm>
            <a:off x="4743916" y="473607"/>
            <a:ext cx="800091" cy="276999"/>
          </a:xfrm>
          <a:prstGeom prst="rect">
            <a:avLst/>
          </a:prstGeom>
          <a:solidFill>
            <a:srgbClr val="F8D7CD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Enable PA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AFCA51FB-4E0B-2980-C2FA-98A558ECE049}"/>
              </a:ext>
            </a:extLst>
          </p:cNvPr>
          <p:cNvSpPr txBox="1"/>
          <p:nvPr/>
        </p:nvSpPr>
        <p:spPr>
          <a:xfrm>
            <a:off x="4944304" y="1975662"/>
            <a:ext cx="616772" cy="276999"/>
          </a:xfrm>
          <a:prstGeom prst="rect">
            <a:avLst/>
          </a:prstGeom>
          <a:solidFill>
            <a:srgbClr val="F8D7CD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Duplex</a:t>
            </a:r>
          </a:p>
        </p:txBody>
      </p: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AA48A5C2-B990-3586-A4AD-AA685819CBC9}"/>
              </a:ext>
            </a:extLst>
          </p:cNvPr>
          <p:cNvCxnSpPr>
            <a:cxnSpLocks/>
            <a:stCxn id="150" idx="2"/>
            <a:endCxn id="8" idx="0"/>
          </p:cNvCxnSpPr>
          <p:nvPr/>
        </p:nvCxnSpPr>
        <p:spPr>
          <a:xfrm flipH="1">
            <a:off x="7282882" y="698397"/>
            <a:ext cx="3937" cy="2662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Rectangle 123">
            <a:extLst>
              <a:ext uri="{FF2B5EF4-FFF2-40B4-BE49-F238E27FC236}">
                <a16:creationId xmlns:a16="http://schemas.microsoft.com/office/drawing/2014/main" id="{FE469F88-4338-56D6-535A-DCEFFFEC5B6B}"/>
              </a:ext>
            </a:extLst>
          </p:cNvPr>
          <p:cNvSpPr/>
          <p:nvPr/>
        </p:nvSpPr>
        <p:spPr>
          <a:xfrm>
            <a:off x="5735610" y="1908988"/>
            <a:ext cx="704990" cy="41352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Duplex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SW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8AD6CF75-84CA-4EA8-A948-0AD6ABD778B9}"/>
              </a:ext>
            </a:extLst>
          </p:cNvPr>
          <p:cNvSpPr txBox="1"/>
          <p:nvPr/>
        </p:nvSpPr>
        <p:spPr>
          <a:xfrm>
            <a:off x="6980549" y="421398"/>
            <a:ext cx="612539" cy="276999"/>
          </a:xfrm>
          <a:prstGeom prst="rect">
            <a:avLst/>
          </a:prstGeom>
          <a:solidFill>
            <a:srgbClr val="F8D7CD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PTT</a:t>
            </a:r>
          </a:p>
        </p:txBody>
      </p:sp>
      <p:cxnSp>
        <p:nvCxnSpPr>
          <p:cNvPr id="152" name="Connector: Elbow 151">
            <a:extLst>
              <a:ext uri="{FF2B5EF4-FFF2-40B4-BE49-F238E27FC236}">
                <a16:creationId xmlns:a16="http://schemas.microsoft.com/office/drawing/2014/main" id="{AC8A5EC1-5F01-12A3-FFC2-F17B3B0CE139}"/>
              </a:ext>
            </a:extLst>
          </p:cNvPr>
          <p:cNvCxnSpPr>
            <a:cxnSpLocks/>
            <a:stCxn id="9" idx="3"/>
            <a:endCxn id="124" idx="0"/>
          </p:cNvCxnSpPr>
          <p:nvPr/>
        </p:nvCxnSpPr>
        <p:spPr>
          <a:xfrm>
            <a:off x="5516485" y="1334201"/>
            <a:ext cx="571620" cy="57478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Arrow Connector 153">
            <a:extLst>
              <a:ext uri="{FF2B5EF4-FFF2-40B4-BE49-F238E27FC236}">
                <a16:creationId xmlns:a16="http://schemas.microsoft.com/office/drawing/2014/main" id="{8D1F766D-4819-4061-A5E7-C08C68B86432}"/>
              </a:ext>
            </a:extLst>
          </p:cNvPr>
          <p:cNvCxnSpPr>
            <a:cxnSpLocks/>
            <a:stCxn id="124" idx="2"/>
            <a:endCxn id="6" idx="0"/>
          </p:cNvCxnSpPr>
          <p:nvPr/>
        </p:nvCxnSpPr>
        <p:spPr>
          <a:xfrm>
            <a:off x="6088105" y="2322511"/>
            <a:ext cx="3904" cy="1575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Arrow Connector 155">
            <a:extLst>
              <a:ext uri="{FF2B5EF4-FFF2-40B4-BE49-F238E27FC236}">
                <a16:creationId xmlns:a16="http://schemas.microsoft.com/office/drawing/2014/main" id="{49CF7CE6-0559-0075-2126-0AD65CE762CD}"/>
              </a:ext>
            </a:extLst>
          </p:cNvPr>
          <p:cNvCxnSpPr>
            <a:cxnSpLocks/>
            <a:stCxn id="113" idx="3"/>
            <a:endCxn id="124" idx="1"/>
          </p:cNvCxnSpPr>
          <p:nvPr/>
        </p:nvCxnSpPr>
        <p:spPr>
          <a:xfrm>
            <a:off x="5561076" y="2114162"/>
            <a:ext cx="174534" cy="15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: Elbow 168">
            <a:extLst>
              <a:ext uri="{FF2B5EF4-FFF2-40B4-BE49-F238E27FC236}">
                <a16:creationId xmlns:a16="http://schemas.microsoft.com/office/drawing/2014/main" id="{617D6544-3D02-71A9-53B5-AC9F452FCF80}"/>
              </a:ext>
            </a:extLst>
          </p:cNvPr>
          <p:cNvCxnSpPr>
            <a:cxnSpLocks/>
            <a:stCxn id="8" idx="2"/>
            <a:endCxn id="10" idx="1"/>
          </p:cNvCxnSpPr>
          <p:nvPr/>
        </p:nvCxnSpPr>
        <p:spPr>
          <a:xfrm rot="16200000" flipH="1">
            <a:off x="6947903" y="2061260"/>
            <a:ext cx="993310" cy="32335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2" name="TextBox 191">
            <a:extLst>
              <a:ext uri="{FF2B5EF4-FFF2-40B4-BE49-F238E27FC236}">
                <a16:creationId xmlns:a16="http://schemas.microsoft.com/office/drawing/2014/main" id="{1DE2EA6C-4454-A2FE-8462-3B651AA5DA11}"/>
              </a:ext>
            </a:extLst>
          </p:cNvPr>
          <p:cNvSpPr txBox="1"/>
          <p:nvPr/>
        </p:nvSpPr>
        <p:spPr>
          <a:xfrm>
            <a:off x="4081253" y="1582883"/>
            <a:ext cx="4956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RF1</a:t>
            </a:r>
          </a:p>
        </p:txBody>
      </p:sp>
      <p:cxnSp>
        <p:nvCxnSpPr>
          <p:cNvPr id="194" name="Connector: Elbow 193">
            <a:extLst>
              <a:ext uri="{FF2B5EF4-FFF2-40B4-BE49-F238E27FC236}">
                <a16:creationId xmlns:a16="http://schemas.microsoft.com/office/drawing/2014/main" id="{D39EF140-6482-7155-0914-7A043FBB6B33}"/>
              </a:ext>
            </a:extLst>
          </p:cNvPr>
          <p:cNvCxnSpPr>
            <a:cxnSpLocks/>
            <a:stCxn id="4" idx="3"/>
            <a:endCxn id="192" idx="0"/>
          </p:cNvCxnSpPr>
          <p:nvPr/>
        </p:nvCxnSpPr>
        <p:spPr>
          <a:xfrm>
            <a:off x="3789495" y="1327728"/>
            <a:ext cx="539583" cy="25515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5" name="TextBox 194">
            <a:extLst>
              <a:ext uri="{FF2B5EF4-FFF2-40B4-BE49-F238E27FC236}">
                <a16:creationId xmlns:a16="http://schemas.microsoft.com/office/drawing/2014/main" id="{A14E196E-1633-8B08-06F2-A0C102422BC5}"/>
              </a:ext>
            </a:extLst>
          </p:cNvPr>
          <p:cNvSpPr txBox="1"/>
          <p:nvPr/>
        </p:nvSpPr>
        <p:spPr>
          <a:xfrm>
            <a:off x="6636938" y="2197260"/>
            <a:ext cx="4956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RF3</a:t>
            </a:r>
          </a:p>
        </p:txBody>
      </p:sp>
      <p:cxnSp>
        <p:nvCxnSpPr>
          <p:cNvPr id="199" name="Connector: Elbow 198">
            <a:extLst>
              <a:ext uri="{FF2B5EF4-FFF2-40B4-BE49-F238E27FC236}">
                <a16:creationId xmlns:a16="http://schemas.microsoft.com/office/drawing/2014/main" id="{FED0195D-6BA2-46E0-46CA-49859BED7F4D}"/>
              </a:ext>
            </a:extLst>
          </p:cNvPr>
          <p:cNvCxnSpPr>
            <a:cxnSpLocks/>
            <a:stCxn id="10" idx="1"/>
            <a:endCxn id="195" idx="2"/>
          </p:cNvCxnSpPr>
          <p:nvPr/>
        </p:nvCxnSpPr>
        <p:spPr>
          <a:xfrm rot="10800000">
            <a:off x="6884763" y="2535814"/>
            <a:ext cx="721472" cy="183778"/>
          </a:xfrm>
          <a:prstGeom prst="bentConnector2">
            <a:avLst/>
          </a:prstGeom>
          <a:ln>
            <a:headEnd type="triangl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0" name="TextBox 199">
            <a:extLst>
              <a:ext uri="{FF2B5EF4-FFF2-40B4-BE49-F238E27FC236}">
                <a16:creationId xmlns:a16="http://schemas.microsoft.com/office/drawing/2014/main" id="{DECFB963-3A25-81C7-4755-ED3EDD429D69}"/>
              </a:ext>
            </a:extLst>
          </p:cNvPr>
          <p:cNvSpPr txBox="1"/>
          <p:nvPr/>
        </p:nvSpPr>
        <p:spPr>
          <a:xfrm>
            <a:off x="5721759" y="692178"/>
            <a:ext cx="10695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Max = 35dBm</a:t>
            </a:r>
          </a:p>
          <a:p>
            <a:r>
              <a:rPr lang="en-US" sz="1200" dirty="0"/>
              <a:t>Min = -70dBm</a:t>
            </a:r>
          </a:p>
          <a:p>
            <a:r>
              <a:rPr lang="en-US" sz="1200" dirty="0"/>
              <a:t>(if Gx=1)</a:t>
            </a:r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A6D4147C-883E-2587-6B66-CD8E10C24BA8}"/>
              </a:ext>
            </a:extLst>
          </p:cNvPr>
          <p:cNvSpPr txBox="1"/>
          <p:nvPr/>
        </p:nvSpPr>
        <p:spPr>
          <a:xfrm>
            <a:off x="3895236" y="1831565"/>
            <a:ext cx="10695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Max=15dBm</a:t>
            </a:r>
          </a:p>
          <a:p>
            <a:r>
              <a:rPr lang="en-US" sz="1200" dirty="0"/>
              <a:t>Min = -70dBm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BC4B5F3-AEB8-62AB-5CE7-C1DCD80F6A87}"/>
              </a:ext>
            </a:extLst>
          </p:cNvPr>
          <p:cNvSpPr txBox="1"/>
          <p:nvPr/>
        </p:nvSpPr>
        <p:spPr>
          <a:xfrm>
            <a:off x="8335091" y="2427547"/>
            <a:ext cx="9834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Gain = </a:t>
            </a:r>
          </a:p>
          <a:p>
            <a:r>
              <a:rPr lang="en-US" sz="1200" dirty="0"/>
              <a:t>0 to 48 dB</a:t>
            </a:r>
          </a:p>
          <a:p>
            <a:r>
              <a:rPr lang="en-US" sz="1200" dirty="0"/>
              <a:t>Typ. = 20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C051EE6D-62B7-AEAF-1992-422D56A163A6}"/>
              </a:ext>
            </a:extLst>
          </p:cNvPr>
          <p:cNvSpPr/>
          <p:nvPr/>
        </p:nvSpPr>
        <p:spPr>
          <a:xfrm>
            <a:off x="5256473" y="3495792"/>
            <a:ext cx="824264" cy="28502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Tx FIFO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86AEEF1-45CA-C108-71C3-8C5613EEEF70}"/>
              </a:ext>
            </a:extLst>
          </p:cNvPr>
          <p:cNvSpPr/>
          <p:nvPr/>
        </p:nvSpPr>
        <p:spPr>
          <a:xfrm>
            <a:off x="6101441" y="3502794"/>
            <a:ext cx="824264" cy="28502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Rx FIFO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8AB50BC-2182-4573-FF55-286EAFABDA66}"/>
              </a:ext>
            </a:extLst>
          </p:cNvPr>
          <p:cNvSpPr txBox="1"/>
          <p:nvPr/>
        </p:nvSpPr>
        <p:spPr>
          <a:xfrm>
            <a:off x="5648343" y="3185565"/>
            <a:ext cx="7585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FPGA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F43799A9-9104-1B34-7433-148F3025356E}"/>
              </a:ext>
            </a:extLst>
          </p:cNvPr>
          <p:cNvCxnSpPr>
            <a:cxnSpLocks/>
            <a:stCxn id="13" idx="1"/>
            <a:endCxn id="59" idx="2"/>
          </p:cNvCxnSpPr>
          <p:nvPr/>
        </p:nvCxnSpPr>
        <p:spPr>
          <a:xfrm flipH="1" flipV="1">
            <a:off x="5668605" y="3780815"/>
            <a:ext cx="11936" cy="3804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86523A80-912E-FF9A-B53A-7563465630E3}"/>
              </a:ext>
            </a:extLst>
          </p:cNvPr>
          <p:cNvCxnSpPr>
            <a:cxnSpLocks/>
            <a:stCxn id="13" idx="2"/>
            <a:endCxn id="30" idx="2"/>
          </p:cNvCxnSpPr>
          <p:nvPr/>
        </p:nvCxnSpPr>
        <p:spPr>
          <a:xfrm flipV="1">
            <a:off x="6509980" y="3787817"/>
            <a:ext cx="3593" cy="373418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1CB20DD5-21A4-FF63-5865-B9FDB3EBE24F}"/>
              </a:ext>
            </a:extLst>
          </p:cNvPr>
          <p:cNvCxnSpPr>
            <a:cxnSpLocks/>
            <a:stCxn id="11" idx="1"/>
            <a:endCxn id="30" idx="3"/>
          </p:cNvCxnSpPr>
          <p:nvPr/>
        </p:nvCxnSpPr>
        <p:spPr>
          <a:xfrm flipH="1" flipV="1">
            <a:off x="6925705" y="3645306"/>
            <a:ext cx="742200" cy="37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or: Elbow 61">
            <a:extLst>
              <a:ext uri="{FF2B5EF4-FFF2-40B4-BE49-F238E27FC236}">
                <a16:creationId xmlns:a16="http://schemas.microsoft.com/office/drawing/2014/main" id="{B00056D5-6A1E-D6A7-A76C-C5E22BE3074E}"/>
              </a:ext>
            </a:extLst>
          </p:cNvPr>
          <p:cNvCxnSpPr>
            <a:cxnSpLocks/>
            <a:stCxn id="68" idx="2"/>
            <a:endCxn id="59" idx="1"/>
          </p:cNvCxnSpPr>
          <p:nvPr/>
        </p:nvCxnSpPr>
        <p:spPr>
          <a:xfrm rot="16200000" flipH="1">
            <a:off x="3983025" y="2364855"/>
            <a:ext cx="718045" cy="182885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ectangle 67">
            <a:extLst>
              <a:ext uri="{FF2B5EF4-FFF2-40B4-BE49-F238E27FC236}">
                <a16:creationId xmlns:a16="http://schemas.microsoft.com/office/drawing/2014/main" id="{937E4FCB-CE21-8C45-2FE0-49CD70AB080C}"/>
              </a:ext>
            </a:extLst>
          </p:cNvPr>
          <p:cNvSpPr/>
          <p:nvPr/>
        </p:nvSpPr>
        <p:spPr>
          <a:xfrm>
            <a:off x="3027592" y="2167723"/>
            <a:ext cx="800060" cy="75253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Gx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Gain 0-1</a:t>
            </a: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A944908B-F676-765F-578B-3F9B5ACCCB84}"/>
              </a:ext>
            </a:extLst>
          </p:cNvPr>
          <p:cNvCxnSpPr>
            <a:cxnSpLocks/>
            <a:stCxn id="68" idx="0"/>
            <a:endCxn id="4" idx="2"/>
          </p:cNvCxnSpPr>
          <p:nvPr/>
        </p:nvCxnSpPr>
        <p:spPr>
          <a:xfrm flipH="1" flipV="1">
            <a:off x="3418217" y="1703996"/>
            <a:ext cx="9405" cy="4637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4" name="Table 73">
            <a:extLst>
              <a:ext uri="{FF2B5EF4-FFF2-40B4-BE49-F238E27FC236}">
                <a16:creationId xmlns:a16="http://schemas.microsoft.com/office/drawing/2014/main" id="{9C18A749-2C29-48FA-C534-D5D2E81C4D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2984494"/>
              </p:ext>
            </p:extLst>
          </p:nvPr>
        </p:nvGraphicFramePr>
        <p:xfrm>
          <a:off x="2285399" y="4771829"/>
          <a:ext cx="4540020" cy="15773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5005">
                  <a:extLst>
                    <a:ext uri="{9D8B030D-6E8A-4147-A177-3AD203B41FA5}">
                      <a16:colId xmlns:a16="http://schemas.microsoft.com/office/drawing/2014/main" val="2817885675"/>
                    </a:ext>
                  </a:extLst>
                </a:gridCol>
                <a:gridCol w="1135005">
                  <a:extLst>
                    <a:ext uri="{9D8B030D-6E8A-4147-A177-3AD203B41FA5}">
                      <a16:colId xmlns:a16="http://schemas.microsoft.com/office/drawing/2014/main" val="3680201715"/>
                    </a:ext>
                  </a:extLst>
                </a:gridCol>
                <a:gridCol w="1135005">
                  <a:extLst>
                    <a:ext uri="{9D8B030D-6E8A-4147-A177-3AD203B41FA5}">
                      <a16:colId xmlns:a16="http://schemas.microsoft.com/office/drawing/2014/main" val="392650322"/>
                    </a:ext>
                  </a:extLst>
                </a:gridCol>
                <a:gridCol w="1135005">
                  <a:extLst>
                    <a:ext uri="{9D8B030D-6E8A-4147-A177-3AD203B41FA5}">
                      <a16:colId xmlns:a16="http://schemas.microsoft.com/office/drawing/2014/main" val="3489664851"/>
                    </a:ext>
                  </a:extLst>
                </a:gridCol>
              </a:tblGrid>
              <a:tr h="373032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b="0" dirty="0">
                          <a:effectLst/>
                        </a:rPr>
                        <a:t>Sample Rate</a:t>
                      </a:r>
                    </a:p>
                    <a:p>
                      <a:pPr algn="ctr" fontAlgn="t">
                        <a:buNone/>
                      </a:pPr>
                      <a:r>
                        <a:rPr lang="en-US" sz="1100" b="0" dirty="0">
                          <a:effectLst/>
                        </a:rPr>
                        <a:t>ksps</a:t>
                      </a:r>
                    </a:p>
                  </a:txBody>
                  <a:tcPr marL="57150" marR="57150" marT="57150" marB="5715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b="0" dirty="0">
                          <a:effectLst/>
                        </a:rPr>
                        <a:t>TX FIFO (8192 ) ms</a:t>
                      </a:r>
                    </a:p>
                  </a:txBody>
                  <a:tcPr marL="57150" marR="57150" marT="57150" marB="5715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dirty="0">
                          <a:effectLst/>
                        </a:rPr>
                        <a:t>RX FIFO (1024)</a:t>
                      </a:r>
                    </a:p>
                    <a:p>
                      <a:pPr algn="ctr" fontAlgn="t">
                        <a:buNone/>
                      </a:pPr>
                      <a:r>
                        <a:rPr lang="en-US" sz="1100" b="0" dirty="0">
                          <a:effectLst/>
                        </a:rPr>
                        <a:t>ms</a:t>
                      </a:r>
                    </a:p>
                  </a:txBody>
                  <a:tcPr marL="57150" marR="57150" marT="57150" marB="5715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Bandwidth </a:t>
                      </a:r>
                    </a:p>
                    <a:p>
                      <a:pPr algn="ctr"/>
                      <a:r>
                        <a:rPr lang="en-US" sz="1100" dirty="0"/>
                        <a:t>kHz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3205960"/>
                  </a:ext>
                </a:extLst>
              </a:tr>
              <a:tr h="233935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dirty="0">
                          <a:effectLst/>
                        </a:rPr>
                        <a:t>48 </a:t>
                      </a:r>
                    </a:p>
                  </a:txBody>
                  <a:tcPr marL="57150" marR="57150" marT="57150" marB="5715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dirty="0">
                          <a:effectLst/>
                        </a:rPr>
                        <a:t>170.7</a:t>
                      </a:r>
                    </a:p>
                  </a:txBody>
                  <a:tcPr marL="57150" marR="57150" marT="57150" marB="5715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dirty="0">
                          <a:effectLst/>
                        </a:rPr>
                        <a:t>21.3</a:t>
                      </a:r>
                    </a:p>
                  </a:txBody>
                  <a:tcPr marL="57150" marR="57150" marT="57150" marB="5715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9896393"/>
                  </a:ext>
                </a:extLst>
              </a:tr>
              <a:tr h="233935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dirty="0">
                          <a:effectLst/>
                        </a:rPr>
                        <a:t>96 </a:t>
                      </a:r>
                    </a:p>
                  </a:txBody>
                  <a:tcPr marL="57150" marR="57150" marT="57150" marB="5715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dirty="0">
                          <a:effectLst/>
                        </a:rPr>
                        <a:t>85.3</a:t>
                      </a:r>
                    </a:p>
                  </a:txBody>
                  <a:tcPr marL="57150" marR="57150" marT="57150" marB="5715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dirty="0">
                          <a:effectLst/>
                        </a:rPr>
                        <a:t>10.7</a:t>
                      </a:r>
                    </a:p>
                  </a:txBody>
                  <a:tcPr marL="57150" marR="57150" marT="57150" marB="5715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96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5969755"/>
                  </a:ext>
                </a:extLst>
              </a:tr>
              <a:tr h="233935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dirty="0">
                          <a:effectLst/>
                        </a:rPr>
                        <a:t>192 </a:t>
                      </a:r>
                    </a:p>
                  </a:txBody>
                  <a:tcPr marL="57150" marR="57150" marT="57150" marB="5715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dirty="0">
                          <a:effectLst/>
                        </a:rPr>
                        <a:t>42.7</a:t>
                      </a:r>
                    </a:p>
                  </a:txBody>
                  <a:tcPr marL="57150" marR="57150" marT="57150" marB="5715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dirty="0">
                          <a:effectLst/>
                        </a:rPr>
                        <a:t>5.3</a:t>
                      </a:r>
                    </a:p>
                  </a:txBody>
                  <a:tcPr marL="57150" marR="57150" marT="57150" marB="5715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192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4013831"/>
                  </a:ext>
                </a:extLst>
              </a:tr>
              <a:tr h="233935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dirty="0">
                          <a:effectLst/>
                        </a:rPr>
                        <a:t>384 </a:t>
                      </a:r>
                    </a:p>
                  </a:txBody>
                  <a:tcPr marL="57150" marR="57150" marT="57150" marB="5715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dirty="0">
                          <a:effectLst/>
                        </a:rPr>
                        <a:t>21.3</a:t>
                      </a:r>
                    </a:p>
                  </a:txBody>
                  <a:tcPr marL="57150" marR="57150" marT="57150" marB="5715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dirty="0">
                          <a:effectLst/>
                        </a:rPr>
                        <a:t>2.7</a:t>
                      </a:r>
                    </a:p>
                  </a:txBody>
                  <a:tcPr marL="57150" marR="57150" marT="57150" marB="5715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384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9825809"/>
                  </a:ext>
                </a:extLst>
              </a:tr>
            </a:tbl>
          </a:graphicData>
        </a:graphic>
      </p:graphicFrame>
      <p:graphicFrame>
        <p:nvGraphicFramePr>
          <p:cNvPr id="77" name="Table 76">
            <a:extLst>
              <a:ext uri="{FF2B5EF4-FFF2-40B4-BE49-F238E27FC236}">
                <a16:creationId xmlns:a16="http://schemas.microsoft.com/office/drawing/2014/main" id="{585A543B-25F1-F7FD-9B26-514E340140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786652"/>
              </p:ext>
            </p:extLst>
          </p:nvPr>
        </p:nvGraphicFramePr>
        <p:xfrm>
          <a:off x="7014858" y="4771830"/>
          <a:ext cx="3063289" cy="132802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39254">
                  <a:extLst>
                    <a:ext uri="{9D8B030D-6E8A-4147-A177-3AD203B41FA5}">
                      <a16:colId xmlns:a16="http://schemas.microsoft.com/office/drawing/2014/main" val="2964230337"/>
                    </a:ext>
                  </a:extLst>
                </a:gridCol>
                <a:gridCol w="496960">
                  <a:extLst>
                    <a:ext uri="{9D8B030D-6E8A-4147-A177-3AD203B41FA5}">
                      <a16:colId xmlns:a16="http://schemas.microsoft.com/office/drawing/2014/main" val="2859956550"/>
                    </a:ext>
                  </a:extLst>
                </a:gridCol>
                <a:gridCol w="627486">
                  <a:extLst>
                    <a:ext uri="{9D8B030D-6E8A-4147-A177-3AD203B41FA5}">
                      <a16:colId xmlns:a16="http://schemas.microsoft.com/office/drawing/2014/main" val="2929895365"/>
                    </a:ext>
                  </a:extLst>
                </a:gridCol>
                <a:gridCol w="1399589">
                  <a:extLst>
                    <a:ext uri="{9D8B030D-6E8A-4147-A177-3AD203B41FA5}">
                      <a16:colId xmlns:a16="http://schemas.microsoft.com/office/drawing/2014/main" val="3292551763"/>
                    </a:ext>
                  </a:extLst>
                </a:gridCol>
              </a:tblGrid>
              <a:tr h="393693">
                <a:tc>
                  <a:txBody>
                    <a:bodyPr/>
                    <a:lstStyle/>
                    <a:p>
                      <a:r>
                        <a:rPr lang="en-US" sz="1100" dirty="0"/>
                        <a:t>En PA</a:t>
                      </a:r>
                    </a:p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PTT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Duplex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Mode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1938414"/>
                  </a:ext>
                </a:extLst>
              </a:tr>
              <a:tr h="300435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Receive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946455"/>
                  </a:ext>
                </a:extLst>
              </a:tr>
              <a:tr h="300435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Transmit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0296403"/>
                  </a:ext>
                </a:extLst>
              </a:tr>
              <a:tr h="300435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Tx + Feedback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5864877"/>
                  </a:ext>
                </a:extLst>
              </a:tr>
            </a:tbl>
          </a:graphicData>
        </a:graphic>
      </p:graphicFrame>
      <p:sp>
        <p:nvSpPr>
          <p:cNvPr id="83" name="Rectangle 82">
            <a:extLst>
              <a:ext uri="{FF2B5EF4-FFF2-40B4-BE49-F238E27FC236}">
                <a16:creationId xmlns:a16="http://schemas.microsoft.com/office/drawing/2014/main" id="{C582043A-4F80-91FB-A617-E2F319DCD829}"/>
              </a:ext>
            </a:extLst>
          </p:cNvPr>
          <p:cNvSpPr/>
          <p:nvPr/>
        </p:nvSpPr>
        <p:spPr>
          <a:xfrm>
            <a:off x="1352550" y="271210"/>
            <a:ext cx="9486900" cy="6315579"/>
          </a:xfrm>
          <a:prstGeom prst="rect">
            <a:avLst/>
          </a:prstGeom>
          <a:noFill/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FDC9B22C-6BDD-737C-5E02-E45D322B073D}"/>
              </a:ext>
            </a:extLst>
          </p:cNvPr>
          <p:cNvSpPr txBox="1"/>
          <p:nvPr/>
        </p:nvSpPr>
        <p:spPr>
          <a:xfrm>
            <a:off x="8738515" y="407395"/>
            <a:ext cx="179715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Hemes Lite 2</a:t>
            </a:r>
          </a:p>
          <a:p>
            <a:r>
              <a:rPr lang="en-US" sz="2400" dirty="0"/>
              <a:t>Radio</a:t>
            </a:r>
          </a:p>
        </p:txBody>
      </p:sp>
    </p:spTree>
    <p:extLst>
      <p:ext uri="{BB962C8B-B14F-4D97-AF65-F5344CB8AC3E}">
        <p14:creationId xmlns:p14="http://schemas.microsoft.com/office/powerpoint/2010/main" val="40672510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</TotalTime>
  <Words>121</Words>
  <Application>Microsoft Office PowerPoint</Application>
  <PresentationFormat>Widescreen</PresentationFormat>
  <Paragraphs>75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Lilly</dc:creator>
  <cp:lastModifiedBy>David Lilly</cp:lastModifiedBy>
  <cp:revision>6</cp:revision>
  <dcterms:created xsi:type="dcterms:W3CDTF">2026-06-03T04:48:00Z</dcterms:created>
  <dcterms:modified xsi:type="dcterms:W3CDTF">2026-06-03T12:32:03Z</dcterms:modified>
</cp:coreProperties>
</file>